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F0502020204030204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75" y="796925"/>
            <a:ext cx="4132776" cy="40396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1850" y="796925"/>
            <a:ext cx="4649099" cy="40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17150" y="187025"/>
            <a:ext cx="8081100" cy="6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ender_cou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25" y="975775"/>
            <a:ext cx="3773350" cy="3602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2" name="Google Shape;62;p14" title="income_coun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700" y="975775"/>
            <a:ext cx="4882900" cy="365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" name="Google Shape;63;p14"/>
          <p:cNvSpPr txBox="1"/>
          <p:nvPr/>
        </p:nvSpPr>
        <p:spPr>
          <a:xfrm>
            <a:off x="337475" y="4568150"/>
            <a:ext cx="22362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class imbalance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108700" y="4578350"/>
            <a:ext cx="1951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 imbalance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24025" y="85375"/>
            <a:ext cx="72882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diabetes_history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528525"/>
            <a:ext cx="4057950" cy="3124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1" name="Google Shape;71;p15" title="income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2750" y="528525"/>
            <a:ext cx="4628849" cy="3124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2" name="Google Shape;72;p15"/>
          <p:cNvSpPr txBox="1"/>
          <p:nvPr/>
        </p:nvSpPr>
        <p:spPr>
          <a:xfrm>
            <a:off x="246000" y="3795650"/>
            <a:ext cx="39645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Median and IQR differs across groups, important feature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464475" y="3795650"/>
            <a:ext cx="39645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Median and IQR is similar across groups, feature is not important (most categorical features are unimportant)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03675" y="44725"/>
            <a:ext cx="8630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visualization/Correlation Analysis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25" y="547025"/>
            <a:ext cx="3549701" cy="342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4925" y="547025"/>
            <a:ext cx="5143499" cy="3426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195200" y="3973800"/>
            <a:ext cx="3446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Features with abs. correlation greater than 0.30: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Physical_activity, bmi, systolic_bp, hba1c, glucose_fasting, age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895250" y="4084450"/>
            <a:ext cx="51435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Features bp and age, as well as hba1c and glucose show multicollinearity, so we will drop the feature with the lowest correlation with the target (hb1c, bp)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344398" y="2475800"/>
            <a:ext cx="854825" cy="587725"/>
          </a:xfrm>
          <a:custGeom>
            <a:avLst/>
            <a:gdLst/>
            <a:ahLst/>
            <a:cxnLst/>
            <a:rect l="l" t="t" r="r" b="b"/>
            <a:pathLst>
              <a:path w="34193" h="23509" extrusionOk="0">
                <a:moveTo>
                  <a:pt x="2771" y="20026"/>
                </a:moveTo>
                <a:cubicBezTo>
                  <a:pt x="10918" y="23081"/>
                  <a:pt x="20540" y="24811"/>
                  <a:pt x="28794" y="22059"/>
                </a:cubicBezTo>
                <a:cubicBezTo>
                  <a:pt x="32244" y="20909"/>
                  <a:pt x="35299" y="15554"/>
                  <a:pt x="33673" y="12301"/>
                </a:cubicBezTo>
                <a:cubicBezTo>
                  <a:pt x="29216" y="3386"/>
                  <a:pt x="15480" y="-2236"/>
                  <a:pt x="6024" y="916"/>
                </a:cubicBezTo>
                <a:cubicBezTo>
                  <a:pt x="1023" y="2583"/>
                  <a:pt x="-1566" y="11439"/>
                  <a:pt x="1145" y="15960"/>
                </a:cubicBezTo>
                <a:cubicBezTo>
                  <a:pt x="2725" y="18595"/>
                  <a:pt x="5884" y="19886"/>
                  <a:pt x="8057" y="22059"/>
                </a:cubicBezTo>
              </a:path>
            </a:pathLst>
          </a:cu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8329550" y="3395225"/>
            <a:ext cx="814452" cy="587720"/>
          </a:xfrm>
          <a:custGeom>
            <a:avLst/>
            <a:gdLst/>
            <a:ahLst/>
            <a:cxnLst/>
            <a:rect l="l" t="t" r="r" b="b"/>
            <a:pathLst>
              <a:path w="27418" h="22987" extrusionOk="0">
                <a:moveTo>
                  <a:pt x="6005" y="16184"/>
                </a:moveTo>
                <a:cubicBezTo>
                  <a:pt x="9932" y="18146"/>
                  <a:pt x="15090" y="20179"/>
                  <a:pt x="19017" y="18217"/>
                </a:cubicBezTo>
                <a:cubicBezTo>
                  <a:pt x="22994" y="16230"/>
                  <a:pt x="28229" y="11958"/>
                  <a:pt x="27149" y="7645"/>
                </a:cubicBezTo>
                <a:cubicBezTo>
                  <a:pt x="25087" y="-592"/>
                  <a:pt x="7245" y="-2644"/>
                  <a:pt x="1939" y="3986"/>
                </a:cubicBezTo>
                <a:cubicBezTo>
                  <a:pt x="-1906" y="8790"/>
                  <a:pt x="967" y="17163"/>
                  <a:pt x="4379" y="22283"/>
                </a:cubicBezTo>
                <a:cubicBezTo>
                  <a:pt x="5797" y="24411"/>
                  <a:pt x="10885" y="20774"/>
                  <a:pt x="10885" y="18217"/>
                </a:cubicBezTo>
              </a:path>
            </a:pathLst>
          </a:cu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296825" y="75225"/>
            <a:ext cx="86709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Correlation Analysis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7"/>
          <p:cNvGrpSpPr/>
          <p:nvPr/>
        </p:nvGrpSpPr>
        <p:grpSpPr>
          <a:xfrm>
            <a:off x="5693317" y="295250"/>
            <a:ext cx="3305700" cy="3483050"/>
            <a:chOff x="5632317" y="1189775"/>
            <a:chExt cx="3305700" cy="3483050"/>
          </a:xfrm>
        </p:grpSpPr>
        <p:sp>
          <p:nvSpPr>
            <p:cNvPr id="91" name="Google Shape;91;p17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rgbClr val="D837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scaling</a:t>
              </a:r>
              <a:endParaRPr sz="1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Scaled the data using a StandardScaler since most of our data has a normal distribution</a:t>
              </a:r>
              <a:endParaRPr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>
            <a:off x="61000" y="295464"/>
            <a:ext cx="3546900" cy="3324586"/>
            <a:chOff x="0" y="1189989"/>
            <a:chExt cx="3546900" cy="3324586"/>
          </a:xfrm>
        </p:grpSpPr>
        <p:sp>
          <p:nvSpPr>
            <p:cNvPr id="94" name="Google Shape;94;p17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name="adj" fmla="val 50000"/>
              </a:avLst>
            </a:prstGeom>
            <a:solidFill>
              <a:srgbClr val="801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splitting and imputation</a:t>
              </a:r>
              <a:endParaRPr sz="1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576211" y="189887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/>
                <a:buChar char="-"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Split the data into 80% training, 10% validation and 10% testing</a:t>
              </a:r>
              <a:endParaRPr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Roboto"/>
                <a:buChar char="-"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Impute any missing or outlier data using SimpleImputer</a:t>
              </a:r>
              <a:endParaRPr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" name="Google Shape;96;p17"/>
          <p:cNvGrpSpPr/>
          <p:nvPr/>
        </p:nvGrpSpPr>
        <p:grpSpPr>
          <a:xfrm>
            <a:off x="3005204" y="295250"/>
            <a:ext cx="3305700" cy="3483050"/>
            <a:chOff x="2944204" y="1189775"/>
            <a:chExt cx="3305700" cy="3483050"/>
          </a:xfrm>
        </p:grpSpPr>
        <p:sp>
          <p:nvSpPr>
            <p:cNvPr id="97" name="Google Shape;97;p17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rgbClr val="B02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transformation</a:t>
              </a:r>
              <a:endParaRPr sz="1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Use cube root transformation to change the distribution of physical_activity_minutes</a:t>
              </a:r>
              <a:endParaRPr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9" name="Google Shape;99;p17" title="physical_befor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000" y="2571750"/>
            <a:ext cx="3862700" cy="24684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0" name="Google Shape;100;p17" title="physical_aft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275" y="2525000"/>
            <a:ext cx="4350625" cy="25375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r="1826" b="10225"/>
          <a:stretch/>
        </p:blipFill>
        <p:spPr>
          <a:xfrm>
            <a:off x="128600" y="276950"/>
            <a:ext cx="4213700" cy="16348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4">
            <a:alphaModFix/>
          </a:blip>
          <a:srcRect b="35987"/>
          <a:stretch/>
        </p:blipFill>
        <p:spPr>
          <a:xfrm>
            <a:off x="128600" y="2044200"/>
            <a:ext cx="4213700" cy="1165676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5">
            <a:alphaModFix/>
          </a:blip>
          <a:srcRect b="37382"/>
          <a:stretch/>
        </p:blipFill>
        <p:spPr>
          <a:xfrm>
            <a:off x="128600" y="3317975"/>
            <a:ext cx="4213701" cy="1098175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" name="Google Shape;108;p18"/>
          <p:cNvSpPr txBox="1"/>
          <p:nvPr/>
        </p:nvSpPr>
        <p:spPr>
          <a:xfrm>
            <a:off x="4576300" y="136200"/>
            <a:ext cx="459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 Selection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0825" y="3041025"/>
            <a:ext cx="4385426" cy="10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28375" y="771525"/>
            <a:ext cx="4330325" cy="19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175" y="91500"/>
            <a:ext cx="4028500" cy="10942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898600"/>
            <a:ext cx="4293927" cy="40901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2275" y="1283825"/>
            <a:ext cx="415047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202275" y="2124825"/>
            <a:ext cx="4028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each choice of hyperparameters, we fit the model and see which model gave the best results</a:t>
            </a:r>
            <a:endParaRPr sz="17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505125" y="105725"/>
            <a:ext cx="43794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Hyperparameter Tuning and Final 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result</a:t>
            </a:r>
            <a:r>
              <a:rPr lang="en" sz="1800">
                <a:solidFill>
                  <a:schemeClr val="dk2"/>
                </a:solidFill>
              </a:rPr>
              <a:t>s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9725" y="3192475"/>
            <a:ext cx="4293926" cy="56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50" y="3853825"/>
            <a:ext cx="4379401" cy="10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On-screen Show (16:9)</PresentationFormat>
  <Paragraphs>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Roboto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Yazan Maamoon Mohd Adeeb Kassab</cp:lastModifiedBy>
  <cp:revision>1</cp:revision>
  <dcterms:modified xsi:type="dcterms:W3CDTF">2026-09-22T17:05:19Z</dcterms:modified>
</cp:coreProperties>
</file>